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 descr=""/>
          <p:cNvPicPr/>
          <p:nvPr/>
        </p:nvPicPr>
        <p:blipFill>
          <a:blip r:embed="rId1"/>
          <a:stretch/>
        </p:blipFill>
        <p:spPr>
          <a:xfrm>
            <a:off x="648000" y="792000"/>
            <a:ext cx="3888000" cy="3888000"/>
          </a:xfrm>
          <a:prstGeom prst="rect">
            <a:avLst/>
          </a:prstGeom>
          <a:ln w="0">
            <a:noFill/>
          </a:ln>
        </p:spPr>
      </p:pic>
      <p:sp>
        <p:nvSpPr>
          <p:cNvPr id="5" name=""/>
          <p:cNvSpPr txBox="1"/>
          <p:nvPr/>
        </p:nvSpPr>
        <p:spPr>
          <a:xfrm>
            <a:off x="5040000" y="1440000"/>
            <a:ext cx="6300000" cy="8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5000" spc="-1" strike="noStrike">
                <a:solidFill>
                  <a:srgbClr val="092a54"/>
                </a:solidFill>
                <a:latin typeface="Arial"/>
              </a:rPr>
              <a:t>SAGE</a:t>
            </a:r>
            <a:endParaRPr b="0" lang="en-US" sz="5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5076000" y="2340000"/>
            <a:ext cx="6192000" cy="5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52766f"/>
                </a:solidFill>
                <a:latin typeface="Arial"/>
              </a:rPr>
              <a:t>Situation Engineering for Evidence-Applicable AI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" name=""/>
          <p:cNvSpPr/>
          <p:nvPr/>
        </p:nvSpPr>
        <p:spPr>
          <a:xfrm>
            <a:off x="5076000" y="3024000"/>
            <a:ext cx="864000" cy="64800"/>
          </a:xfrm>
          <a:prstGeom prst="rect">
            <a:avLst/>
          </a:prstGeom>
          <a:solidFill>
            <a:srgbClr val="c99222"/>
          </a:solidFill>
          <a:ln w="0">
            <a:noFill/>
          </a:ln>
        </p:spPr>
        <p:txBody>
          <a:bodyPr lIns="90000" rIns="90000" tIns="19800" bIns="19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5076000" y="3312000"/>
            <a:ext cx="6048000" cy="8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ko-KR" sz="2000" spc="-1" strike="noStrike">
                <a:solidFill>
                  <a:srgbClr val="173b58"/>
                </a:solidFill>
                <a:latin typeface="Noto Sans CJK KR"/>
              </a:rPr>
              <a:t>관련된 증거가 지금 이 질문에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algn="ctr"/>
            <a:r>
              <a:rPr b="1" lang="ko-KR" sz="2000" spc="-1" strike="noStrike">
                <a:solidFill>
                  <a:srgbClr val="173b58"/>
                </a:solidFill>
                <a:latin typeface="Noto Sans CJK KR"/>
              </a:rPr>
              <a:t>실제로 적용 가능한가</a:t>
            </a:r>
            <a:r>
              <a:rPr b="1" lang="en-US" sz="2000" spc="-1" strike="noStrike">
                <a:solidFill>
                  <a:srgbClr val="173b58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32000" y="6570000"/>
            <a:ext cx="792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SAGE · Situation Engineering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1304000" y="6570000"/>
            <a:ext cx="432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504000" y="360000"/>
            <a:ext cx="1098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ko-KR" sz="2800" spc="-1" strike="noStrike">
                <a:solidFill>
                  <a:srgbClr val="092a54"/>
                </a:solidFill>
                <a:latin typeface="Arial"/>
              </a:rPr>
              <a:t>문제</a:t>
            </a:r>
            <a:r>
              <a:rPr b="1" lang="en-US" sz="2800" spc="-1" strike="noStrike">
                <a:solidFill>
                  <a:srgbClr val="092a54"/>
                </a:solidFill>
                <a:latin typeface="Arial"/>
              </a:rPr>
              <a:t>: </a:t>
            </a:r>
            <a:r>
              <a:rPr b="1" lang="ko-KR" sz="2800" spc="-1" strike="noStrike">
                <a:solidFill>
                  <a:srgbClr val="092a54"/>
                </a:solidFill>
                <a:latin typeface="Arial"/>
              </a:rPr>
              <a:t>관련성만으로는 충분하지 않다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" name=""/>
          <p:cNvSpPr/>
          <p:nvPr/>
        </p:nvSpPr>
        <p:spPr>
          <a:xfrm>
            <a:off x="540000" y="1116000"/>
            <a:ext cx="3420000" cy="3888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" name=""/>
          <p:cNvSpPr/>
          <p:nvPr/>
        </p:nvSpPr>
        <p:spPr>
          <a:xfrm>
            <a:off x="4392000" y="1116000"/>
            <a:ext cx="3420000" cy="3888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" name=""/>
          <p:cNvSpPr/>
          <p:nvPr/>
        </p:nvSpPr>
        <p:spPr>
          <a:xfrm>
            <a:off x="8244000" y="1116000"/>
            <a:ext cx="3420000" cy="3888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92000" y="1440000"/>
            <a:ext cx="2916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STALE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92000" y="1944000"/>
            <a:ext cx="2880000" cy="20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과거에는 참이었지만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질문 시점에는 만료된 사실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→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시간 상태 필요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644000" y="1440000"/>
            <a:ext cx="2916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OUT OF SCOPE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644000" y="1944000"/>
            <a:ext cx="2880000" cy="212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특정 조직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지역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사용자에게만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적용되는 국소적 사실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→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범위 상태 필요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8496000" y="1440000"/>
            <a:ext cx="2916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WRONG WORLD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8496000" y="1944000"/>
            <a:ext cx="2880000" cy="20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가정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제안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소문을 현실의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확정 사실로 사용하는 오류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→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양상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세계 상태 필요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80000" y="5400000"/>
            <a:ext cx="10008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8d6415"/>
                </a:solidFill>
                <a:latin typeface="Noto Sans CJK KR"/>
              </a:rPr>
              <a:t>Situation blindness = </a:t>
            </a:r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증거는 맞지만 적용 조건이 틀린 실패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32000" y="6570000"/>
            <a:ext cx="792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SAGE · Situation Engineering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1304000" y="6570000"/>
            <a:ext cx="432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504000" y="360000"/>
            <a:ext cx="1098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92a54"/>
                </a:solidFill>
                <a:latin typeface="Arial"/>
              </a:rPr>
              <a:t>SAGE</a:t>
            </a:r>
            <a:r>
              <a:rPr b="1" lang="ko-KR" sz="2800" spc="-1" strike="noStrike">
                <a:solidFill>
                  <a:srgbClr val="092a54"/>
                </a:solidFill>
                <a:latin typeface="Arial"/>
              </a:rPr>
              <a:t>의 핵심</a:t>
            </a:r>
            <a:r>
              <a:rPr b="1" lang="en-US" sz="2800" spc="-1" strike="noStrike">
                <a:solidFill>
                  <a:srgbClr val="092a54"/>
                </a:solidFill>
                <a:latin typeface="Arial"/>
              </a:rPr>
              <a:t>: </a:t>
            </a:r>
            <a:r>
              <a:rPr b="1" lang="ko-KR" sz="2800" spc="-1" strike="noStrike">
                <a:solidFill>
                  <a:srgbClr val="092a54"/>
                </a:solidFill>
                <a:latin typeface="Arial"/>
              </a:rPr>
              <a:t>명시적 </a:t>
            </a:r>
            <a:r>
              <a:rPr b="1" lang="en-US" sz="2800" spc="-1" strike="noStrike">
                <a:solidFill>
                  <a:srgbClr val="092a54"/>
                </a:solidFill>
                <a:latin typeface="Arial"/>
              </a:rPr>
              <a:t>Situation State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" name=""/>
          <p:cNvSpPr/>
          <p:nvPr/>
        </p:nvSpPr>
        <p:spPr>
          <a:xfrm>
            <a:off x="612000" y="1548000"/>
            <a:ext cx="2304000" cy="1800000"/>
          </a:xfrm>
          <a:prstGeom prst="rect">
            <a:avLst/>
          </a:prstGeom>
          <a:solidFill>
            <a:srgbClr val="eff5f1"/>
          </a:solidFill>
          <a:ln w="0">
            <a:solidFill>
              <a:srgbClr val="77a092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" name=""/>
          <p:cNvSpPr/>
          <p:nvPr/>
        </p:nvSpPr>
        <p:spPr>
          <a:xfrm>
            <a:off x="3600000" y="1548000"/>
            <a:ext cx="2304000" cy="1800000"/>
          </a:xfrm>
          <a:prstGeom prst="rect">
            <a:avLst/>
          </a:prstGeom>
          <a:solidFill>
            <a:srgbClr val="eff5f1"/>
          </a:solidFill>
          <a:ln w="0">
            <a:solidFill>
              <a:srgbClr val="77a092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" name=""/>
          <p:cNvSpPr/>
          <p:nvPr/>
        </p:nvSpPr>
        <p:spPr>
          <a:xfrm>
            <a:off x="6588000" y="1548000"/>
            <a:ext cx="2304000" cy="1800000"/>
          </a:xfrm>
          <a:prstGeom prst="rect">
            <a:avLst/>
          </a:prstGeom>
          <a:solidFill>
            <a:srgbClr val="eff5f1"/>
          </a:solidFill>
          <a:ln w="0">
            <a:solidFill>
              <a:srgbClr val="77a092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" name=""/>
          <p:cNvSpPr/>
          <p:nvPr/>
        </p:nvSpPr>
        <p:spPr>
          <a:xfrm>
            <a:off x="9576000" y="1548000"/>
            <a:ext cx="1980000" cy="1800000"/>
          </a:xfrm>
          <a:prstGeom prst="rect">
            <a:avLst/>
          </a:prstGeom>
          <a:solidFill>
            <a:srgbClr val="eff5f1"/>
          </a:solidFill>
          <a:ln w="0">
            <a:solidFill>
              <a:srgbClr val="77a092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92000" y="1800000"/>
            <a:ext cx="194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1 · SENSE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92000" y="2304000"/>
            <a:ext cx="1944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질문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증거에서 상태 변수 추출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780000" y="1800000"/>
            <a:ext cx="194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2 · UPDATE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780000" y="2304000"/>
            <a:ext cx="1944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충돌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변경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취소를 상태에 반영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768000" y="1800000"/>
            <a:ext cx="194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3 · VALIDATE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768000" y="2304000"/>
            <a:ext cx="1944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시간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범위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출처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관찰자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세계 검증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9756000" y="1800000"/>
            <a:ext cx="162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4 · ACT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9756000" y="2304000"/>
            <a:ext cx="1620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답변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/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검색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/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질문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/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기권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080000" y="4104000"/>
            <a:ext cx="1000800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400" spc="-1" strike="noStrike">
                <a:solidFill>
                  <a:srgbClr val="092a54"/>
                </a:solidFill>
                <a:latin typeface="Courier New"/>
              </a:rPr>
              <a:t>(q, E) → Ŝ → Ŝ′ → policy → answer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800000" y="5184000"/>
            <a:ext cx="8568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상황 상태는 </a:t>
            </a:r>
            <a:r>
              <a:rPr b="1" lang="en-US" sz="1500" spc="-1" strike="noStrike">
                <a:solidFill>
                  <a:srgbClr val="8d6415"/>
                </a:solidFill>
                <a:latin typeface="Noto Sans CJK KR"/>
              </a:rPr>
              <a:t>prompt·context·memory·tool</a:t>
            </a:r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을 잇는 검증 계층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32000" y="6570000"/>
            <a:ext cx="792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SAGE · Situation Engineering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1304000" y="6570000"/>
            <a:ext cx="432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504000" y="360000"/>
            <a:ext cx="1098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92a54"/>
                </a:solidFill>
                <a:latin typeface="Arial"/>
              </a:rPr>
              <a:t>SituationCatch-Bench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76000" y="1116000"/>
            <a:ext cx="32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4400" spc="-1" strike="noStrike">
                <a:solidFill>
                  <a:srgbClr val="092a54"/>
                </a:solidFill>
                <a:latin typeface="Arial"/>
              </a:rPr>
              <a:t>4,200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84000" y="2196000"/>
            <a:ext cx="306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52766f"/>
                </a:solidFill>
                <a:latin typeface="Arial"/>
              </a:rPr>
              <a:t>controlled instances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320000" y="1116000"/>
            <a:ext cx="32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4400" spc="-1" strike="noStrike">
                <a:solidFill>
                  <a:srgbClr val="092a54"/>
                </a:solidFill>
                <a:latin typeface="Arial"/>
              </a:rPr>
              <a:t>7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428000" y="2196000"/>
            <a:ext cx="306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52766f"/>
                </a:solidFill>
                <a:latin typeface="Arial"/>
              </a:rPr>
              <a:t>diagnostic categories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064000" y="1116000"/>
            <a:ext cx="32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4400" spc="-1" strike="noStrike">
                <a:solidFill>
                  <a:srgbClr val="092a54"/>
                </a:solidFill>
                <a:latin typeface="Arial"/>
              </a:rPr>
              <a:t>600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8172000" y="2196000"/>
            <a:ext cx="306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52766f"/>
                </a:solidFill>
                <a:latin typeface="Arial"/>
              </a:rPr>
              <a:t>items per category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" name=""/>
          <p:cNvSpPr/>
          <p:nvPr/>
        </p:nvSpPr>
        <p:spPr>
          <a:xfrm>
            <a:off x="648000" y="3024000"/>
            <a:ext cx="10800000" cy="1908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36000" y="3312000"/>
            <a:ext cx="10224000" cy="13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000" spc="-1" strike="noStrike">
                <a:solidFill>
                  <a:srgbClr val="173b58"/>
                </a:solidFill>
                <a:latin typeface="Noto Sans CJK KR"/>
              </a:rPr>
              <a:t>Temporal · Hidden premise · Source conflict · Modality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algn="ctr"/>
            <a:r>
              <a:rPr b="1" lang="en-US" sz="2000" spc="-1" strike="noStrike">
                <a:solidFill>
                  <a:srgbClr val="173b58"/>
                </a:solidFill>
                <a:latin typeface="Noto Sans CJK KR"/>
              </a:rPr>
              <a:t>Scope · Observer knowledge · Counterfactual world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188000" y="5328000"/>
            <a:ext cx="9864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목적</a:t>
            </a:r>
            <a:r>
              <a:rPr b="1" lang="en-US" sz="1500" spc="-1" strike="noStrike">
                <a:solidFill>
                  <a:srgbClr val="8d6415"/>
                </a:solidFill>
                <a:latin typeface="Noto Sans CJK KR"/>
              </a:rPr>
              <a:t>: </a:t>
            </a:r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자연언어 일반화가 아니라 적용성 불변식의 기계적 진단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32000" y="6570000"/>
            <a:ext cx="792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SAGE · Situation Engineering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1304000" y="6570000"/>
            <a:ext cx="432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504000" y="360000"/>
            <a:ext cx="10980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ko-KR" sz="2800" spc="-1" strike="noStrike">
                <a:solidFill>
                  <a:srgbClr val="092a54"/>
                </a:solidFill>
                <a:latin typeface="Arial"/>
              </a:rPr>
              <a:t>상태 품질이 최종 정확도를 결정한다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" name=""/>
          <p:cNvSpPr/>
          <p:nvPr/>
        </p:nvSpPr>
        <p:spPr>
          <a:xfrm>
            <a:off x="720000" y="1512000"/>
            <a:ext cx="3096000" cy="3384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" name=""/>
          <p:cNvSpPr/>
          <p:nvPr/>
        </p:nvSpPr>
        <p:spPr>
          <a:xfrm>
            <a:off x="4536000" y="1512000"/>
            <a:ext cx="3096000" cy="3384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" name=""/>
          <p:cNvSpPr/>
          <p:nvPr/>
        </p:nvSpPr>
        <p:spPr>
          <a:xfrm>
            <a:off x="8352000" y="1512000"/>
            <a:ext cx="3096000" cy="3384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72000" y="1872000"/>
            <a:ext cx="2592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800" spc="-1" strike="noStrike">
                <a:solidFill>
                  <a:srgbClr val="2e7563"/>
                </a:solidFill>
                <a:latin typeface="Arial"/>
              </a:rPr>
              <a:t>100.0%</a:t>
            </a:r>
            <a:endParaRPr b="0" lang="en-US" sz="3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080000" y="2772000"/>
            <a:ext cx="244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Gold state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80000" y="3312000"/>
            <a:ext cx="2448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구조화 상태를 직접 제공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788000" y="1872000"/>
            <a:ext cx="2592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800" spc="-1" strike="noStrike">
                <a:solidFill>
                  <a:srgbClr val="c28b1b"/>
                </a:solidFill>
                <a:latin typeface="Arial"/>
              </a:rPr>
              <a:t>77.9%</a:t>
            </a:r>
            <a:endParaRPr b="0" lang="en-US" sz="3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896000" y="2772000"/>
            <a:ext cx="244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Predicted state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896000" y="3312000"/>
            <a:ext cx="2448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claim text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에서 상태를 추출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604000" y="1872000"/>
            <a:ext cx="2592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800" spc="-1" strike="noStrike">
                <a:solidFill>
                  <a:srgbClr val="a64b49"/>
                </a:solidFill>
                <a:latin typeface="Arial"/>
              </a:rPr>
              <a:t>35.1%</a:t>
            </a:r>
            <a:endParaRPr b="0" lang="en-US" sz="3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712000" y="2772000"/>
            <a:ext cx="244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Corrupted state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712000" y="3312000"/>
            <a:ext cx="2448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출처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양상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·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범위를 의도적으로 손상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440000" y="5400000"/>
            <a:ext cx="936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8d6415"/>
                </a:solidFill>
                <a:latin typeface="Noto Sans CJK KR"/>
              </a:rPr>
              <a:t>Oracle </a:t>
            </a:r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성능만으로는 </a:t>
            </a:r>
            <a:r>
              <a:rPr b="1" lang="en-US" sz="1500" spc="-1" strike="noStrike">
                <a:solidFill>
                  <a:srgbClr val="8d6415"/>
                </a:solidFill>
                <a:latin typeface="Noto Sans CJK KR"/>
              </a:rPr>
              <a:t>sensing bottleneck</a:t>
            </a:r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을 볼 수 없다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32000" y="6570000"/>
            <a:ext cx="792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SAGE · Situation Engineering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1304000" y="6570000"/>
            <a:ext cx="432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 txBox="1"/>
          <p:nvPr/>
        </p:nvSpPr>
        <p:spPr>
          <a:xfrm>
            <a:off x="504000" y="360000"/>
            <a:ext cx="1098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92a54"/>
                </a:solidFill>
                <a:latin typeface="Arial"/>
              </a:rPr>
              <a:t>SCQA Reference Architecture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12000" y="1116000"/>
            <a:ext cx="5184000" cy="43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52766f"/>
                </a:solidFill>
                <a:latin typeface="Noto Sans CJK KR"/>
              </a:rPr>
              <a:t>Situation schema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1" name=""/>
          <p:cNvSpPr/>
          <p:nvPr/>
        </p:nvSpPr>
        <p:spPr>
          <a:xfrm>
            <a:off x="612000" y="1584000"/>
            <a:ext cx="5184000" cy="3420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900000" y="1836000"/>
            <a:ext cx="4608000" cy="280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•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actors, entities, events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•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valid time &amp; observation time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•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modality &amp; source status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•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scope &amp; observer knowledge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•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real / counterfactual world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•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unresolved critical variables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480000" y="1116000"/>
            <a:ext cx="5040000" cy="43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52766f"/>
                </a:solidFill>
                <a:latin typeface="Noto Sans CJK KR"/>
              </a:rPr>
              <a:t>Response policy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"/>
          <p:cNvSpPr/>
          <p:nvPr/>
        </p:nvSpPr>
        <p:spPr>
          <a:xfrm>
            <a:off x="6480000" y="1584000"/>
            <a:ext cx="5040000" cy="3420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768000" y="1836000"/>
            <a:ext cx="4464000" cy="280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ANSWER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상태가 충분하고 일관됨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RETRIEVE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근거 또는 상태가 부족함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CLARIFY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사용자 변수 확인 필요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ABSTAIN 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신뢰 가능한 판단 불가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모든 결정은 </a:t>
            </a:r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provenance</a:t>
            </a:r>
            <a:r>
              <a:rPr b="0" lang="ko-KR" sz="1600" spc="-1" strike="noStrike">
                <a:solidFill>
                  <a:srgbClr val="263b46"/>
                </a:solidFill>
                <a:latin typeface="Noto Sans CJK KR"/>
              </a:rPr>
              <a:t>와 함께 기록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548000" y="5400000"/>
            <a:ext cx="91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소스 구현</a:t>
            </a:r>
            <a:r>
              <a:rPr b="1" lang="en-US" sz="1500" spc="-1" strike="noStrike">
                <a:solidFill>
                  <a:srgbClr val="8d6415"/>
                </a:solidFill>
                <a:latin typeface="Noto Sans CJK KR"/>
              </a:rPr>
              <a:t>: code/scqa · </a:t>
            </a:r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실행 결과</a:t>
            </a:r>
            <a:r>
              <a:rPr b="1" lang="en-US" sz="1500" spc="-1" strike="noStrike">
                <a:solidFill>
                  <a:srgbClr val="8d6415"/>
                </a:solidFill>
                <a:latin typeface="Noto Sans CJK KR"/>
              </a:rPr>
              <a:t>: paper/results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32000" y="6570000"/>
            <a:ext cx="792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SAGE · Situation Engineering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304000" y="6570000"/>
            <a:ext cx="432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 txBox="1"/>
          <p:nvPr/>
        </p:nvSpPr>
        <p:spPr>
          <a:xfrm>
            <a:off x="504000" y="360000"/>
            <a:ext cx="1098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92a54"/>
                </a:solidFill>
                <a:latin typeface="Arial"/>
              </a:rPr>
              <a:t>Evidence ladder: </a:t>
            </a:r>
            <a:r>
              <a:rPr b="1" lang="ko-KR" sz="2800" spc="-1" strike="noStrike">
                <a:solidFill>
                  <a:srgbClr val="092a54"/>
                </a:solidFill>
                <a:latin typeface="Arial"/>
              </a:rPr>
              <a:t>주장 범위를 분리한다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" name=""/>
          <p:cNvSpPr/>
          <p:nvPr/>
        </p:nvSpPr>
        <p:spPr>
          <a:xfrm>
            <a:off x="720000" y="1116000"/>
            <a:ext cx="10728000" cy="4176000"/>
          </a:xfrm>
          <a:prstGeom prst="rect">
            <a:avLst/>
          </a:prstGeom>
          <a:solidFill>
            <a:srgbClr val="ffffff"/>
          </a:solidFill>
          <a:ln w="0">
            <a:solidFill>
              <a:srgbClr val="d8e0db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080000" y="1440000"/>
            <a:ext cx="10008000" cy="35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E1 Formal definition </a:t>
            </a:r>
            <a:r>
              <a:rPr b="0" lang="ko-KR" sz="1700" spc="-1" strike="noStrike">
                <a:solidFill>
                  <a:srgbClr val="173b58"/>
                </a:solidFill>
                <a:latin typeface="Courier New"/>
              </a:rPr>
              <a:t>완료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E2 Oracle-state unit tests </a:t>
            </a:r>
            <a:r>
              <a:rPr b="0" lang="ko-KR" sz="1700" spc="-1" strike="noStrike">
                <a:solidFill>
                  <a:srgbClr val="173b58"/>
                </a:solidFill>
                <a:latin typeface="Courier New"/>
              </a:rPr>
              <a:t>완료 </a:t>
            </a:r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· 4,200 items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E3 Natural prevalence </a:t>
            </a:r>
            <a:r>
              <a:rPr b="0" lang="ko-KR" sz="1700" spc="-1" strike="noStrike">
                <a:solidFill>
                  <a:srgbClr val="173b58"/>
                </a:solidFill>
                <a:latin typeface="Courier New"/>
              </a:rPr>
              <a:t>선행연구가 지지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E4 Predicted-state control </a:t>
            </a:r>
            <a:r>
              <a:rPr b="0" lang="ko-KR" sz="1700" spc="-1" strike="noStrike">
                <a:solidFill>
                  <a:srgbClr val="173b58"/>
                </a:solidFill>
                <a:latin typeface="Courier New"/>
              </a:rPr>
              <a:t>완료 </a:t>
            </a:r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· controlled text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E5 Multi-model intervention harness </a:t>
            </a:r>
            <a:r>
              <a:rPr b="0" lang="ko-KR" sz="1700" spc="-1" strike="noStrike">
                <a:solidFill>
                  <a:srgbClr val="173b58"/>
                </a:solidFill>
                <a:latin typeface="Courier New"/>
              </a:rPr>
              <a:t>완료 </a:t>
            </a:r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· </a:t>
            </a:r>
            <a:r>
              <a:rPr b="0" lang="ko-KR" sz="1700" spc="-1" strike="noStrike">
                <a:solidFill>
                  <a:srgbClr val="173b58"/>
                </a:solidFill>
                <a:latin typeface="Courier New"/>
              </a:rPr>
              <a:t>실측 미완료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E6 Independent human study protocol </a:t>
            </a:r>
            <a:r>
              <a:rPr b="0" lang="ko-KR" sz="1700" spc="-1" strike="noStrike">
                <a:solidFill>
                  <a:srgbClr val="173b58"/>
                </a:solidFill>
                <a:latin typeface="Courier New"/>
              </a:rPr>
              <a:t>완료 </a:t>
            </a:r>
            <a:r>
              <a:rPr b="0" lang="en-US" sz="1700" spc="-1" strike="noStrike">
                <a:solidFill>
                  <a:srgbClr val="173b58"/>
                </a:solidFill>
                <a:latin typeface="Courier New"/>
              </a:rPr>
              <a:t>· </a:t>
            </a:r>
            <a:r>
              <a:rPr b="0" lang="ko-KR" sz="1700" spc="-1" strike="noStrike">
                <a:solidFill>
                  <a:srgbClr val="173b58"/>
                </a:solidFill>
                <a:latin typeface="Courier New"/>
              </a:rPr>
              <a:t>실측 미완료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440000" y="5544000"/>
            <a:ext cx="936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실행하지 않은 </a:t>
            </a:r>
            <a:r>
              <a:rPr b="1" lang="en-US" sz="1500" spc="-1" strike="noStrike">
                <a:solidFill>
                  <a:srgbClr val="8d6415"/>
                </a:solidFill>
                <a:latin typeface="Noto Sans CJK KR"/>
              </a:rPr>
              <a:t>API·</a:t>
            </a:r>
            <a:r>
              <a:rPr b="1" lang="ko-KR" sz="1500" spc="-1" strike="noStrike">
                <a:solidFill>
                  <a:srgbClr val="8d6415"/>
                </a:solidFill>
                <a:latin typeface="Noto Sans CJK KR"/>
              </a:rPr>
              <a:t>사람 평가를 결과처럼 보고하지 않는다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32000" y="6570000"/>
            <a:ext cx="792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SAGE · Situation Engineering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1304000" y="6570000"/>
            <a:ext cx="432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7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 txBox="1"/>
          <p:nvPr/>
        </p:nvSpPr>
        <p:spPr>
          <a:xfrm>
            <a:off x="504000" y="360000"/>
            <a:ext cx="1098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92a54"/>
                </a:solidFill>
                <a:latin typeface="Arial"/>
              </a:rPr>
              <a:t>Reproducibility package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" name=""/>
          <p:cNvSpPr/>
          <p:nvPr/>
        </p:nvSpPr>
        <p:spPr>
          <a:xfrm>
            <a:off x="612000" y="1188000"/>
            <a:ext cx="3348000" cy="3780000"/>
          </a:xfrm>
          <a:prstGeom prst="rect">
            <a:avLst/>
          </a:prstGeom>
          <a:solidFill>
            <a:srgbClr val="eff5f1"/>
          </a:solidFill>
          <a:ln w="0">
            <a:solidFill>
              <a:srgbClr val="77a092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7" name=""/>
          <p:cNvSpPr/>
          <p:nvPr/>
        </p:nvSpPr>
        <p:spPr>
          <a:xfrm>
            <a:off x="4392000" y="1188000"/>
            <a:ext cx="3348000" cy="3780000"/>
          </a:xfrm>
          <a:prstGeom prst="rect">
            <a:avLst/>
          </a:prstGeom>
          <a:solidFill>
            <a:srgbClr val="eff5f1"/>
          </a:solidFill>
          <a:ln w="0">
            <a:solidFill>
              <a:srgbClr val="77a092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8" name=""/>
          <p:cNvSpPr/>
          <p:nvPr/>
        </p:nvSpPr>
        <p:spPr>
          <a:xfrm>
            <a:off x="8172000" y="1188000"/>
            <a:ext cx="3348000" cy="3780000"/>
          </a:xfrm>
          <a:prstGeom prst="rect">
            <a:avLst/>
          </a:prstGeom>
          <a:solidFill>
            <a:srgbClr val="eff5f1"/>
          </a:solidFill>
          <a:ln w="0">
            <a:solidFill>
              <a:srgbClr val="77a092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64000" y="1476000"/>
            <a:ext cx="284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code/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64000" y="2052000"/>
            <a:ext cx="2844000" cy="24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SCQA engine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state sensor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multi-LLM adapters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annotation workflow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automated tests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644000" y="1476000"/>
            <a:ext cx="284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paper/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644000" y="2052000"/>
            <a:ext cx="2844000" cy="24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main.tex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supplementary.tex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4,200-item dataset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item-level results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26 linked references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424000" y="1476000"/>
            <a:ext cx="284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b315e"/>
                </a:solidFill>
                <a:latin typeface="Arial"/>
              </a:rPr>
              <a:t>ppt/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424000" y="2052000"/>
            <a:ext cx="2844000" cy="24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sage.pptx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editable source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research narrative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measured outcomes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600" spc="-1" strike="noStrike">
                <a:solidFill>
                  <a:srgbClr val="263b46"/>
                </a:solidFill>
                <a:latin typeface="Noto Sans CJK KR"/>
              </a:rPr>
              <a:t>limitations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440000" y="5472000"/>
            <a:ext cx="936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092a54"/>
                </a:solidFill>
                <a:latin typeface="Courier New"/>
              </a:rPr>
              <a:t>PYTHONPATH=code python code/run_experiments.py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32000" y="6570000"/>
            <a:ext cx="792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SAGE · Situation Engineering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304000" y="6570000"/>
            <a:ext cx="432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8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572000" y="504000"/>
            <a:ext cx="3060000" cy="306000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 txBox="1"/>
          <p:nvPr/>
        </p:nvSpPr>
        <p:spPr>
          <a:xfrm>
            <a:off x="1440000" y="3600000"/>
            <a:ext cx="9324000" cy="57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500" spc="-1" strike="noStrike">
                <a:solidFill>
                  <a:srgbClr val="092a54"/>
                </a:solidFill>
                <a:latin typeface="Arial"/>
              </a:rPr>
              <a:t>Relevant evidence is not necessarily applicable evidence.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800000" y="4392000"/>
            <a:ext cx="8604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52766f"/>
                </a:solidFill>
                <a:latin typeface="Arial"/>
              </a:rPr>
              <a:t>SAGE makes the active situation explicit, testable, and auditable.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" name=""/>
          <p:cNvSpPr/>
          <p:nvPr/>
        </p:nvSpPr>
        <p:spPr>
          <a:xfrm>
            <a:off x="5328000" y="5220000"/>
            <a:ext cx="1512000" cy="64800"/>
          </a:xfrm>
          <a:prstGeom prst="rect">
            <a:avLst/>
          </a:prstGeom>
          <a:solidFill>
            <a:srgbClr val="c99222"/>
          </a:solidFill>
          <a:ln w="0">
            <a:noFill/>
          </a:ln>
        </p:spPr>
        <p:txBody>
          <a:bodyPr lIns="90000" rIns="90000" tIns="19800" bIns="19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240000" y="5472000"/>
            <a:ext cx="5688000" cy="36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8d6415"/>
                </a:solidFill>
                <a:latin typeface="Noto Sans CJK KR"/>
              </a:rPr>
              <a:t>github.com/leemgs/sage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32000" y="6570000"/>
            <a:ext cx="792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SAGE · Situation Engineering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1304000" y="6570000"/>
            <a:ext cx="432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d8d8a"/>
                </a:solidFill>
                <a:latin typeface="Arial"/>
              </a:rPr>
              <a:t>9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ko-KR</dc:language>
  <cp:lastModifiedBy/>
  <cp:revision>0</cp:revision>
  <dc:subject/>
  <dc:title/>
</cp:coreProperties>
</file>