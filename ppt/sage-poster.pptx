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42793920" cy="30266640"/>
  <p:notesSz cx="30266640" cy="427939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Exact action-and-answer accuracy</c:v>
                </c:pt>
              </c:strCache>
            </c:strRef>
          </c:tx>
          <c:spPr>
            <a:solidFill>
              <a:srgbClr val="50808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2C3E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Lexical-RAG</c:v>
                  </c:pt>
                  <c:pt idx="1">
                    <c:v>Recency-RAG</c:v>
                  </c:pt>
                  <c:pt idx="2">
                    <c:v>Latest-mention</c:v>
                  </c:pt>
                  <c:pt idx="3">
                    <c:v>SCQA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</c:v>
                </c:pt>
                <c:pt idx="1">
                  <c:v>71.4</c:v>
                </c:pt>
                <c:pt idx="2">
                  <c:v>85.7</c:v>
                </c:pt>
                <c:pt idx="3">
                  <c:v>100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600" u="none">
                  <a:solidFill>
                    <a:srgbClr val="2C3E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700" b="0" i="0" u="none" strike="noStrike">
                <a:solidFill>
                  <a:srgbClr val="2C3E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DDE7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B6B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under state conditions</c:v>
                </c:pt>
              </c:strCache>
            </c:strRef>
          </c:tx>
          <c:spPr>
            <a:solidFill>
              <a:srgbClr val="84B59F">
                <a:alpha val="100000"/>
              </a:srgbClr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700" u="none">
                    <a:solidFill>
                      <a:srgbClr val="2C3E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4B59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0808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C3E4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Gold</c:v>
                  </c:pt>
                  <c:pt idx="1">
                    <c:v>Predicted</c:v>
                  </c:pt>
                  <c:pt idx="2">
                    <c:v>Corrupted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77.9</c:v>
                </c:pt>
                <c:pt idx="2">
                  <c:v>35.1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700" u="none">
                  <a:solidFill>
                    <a:srgbClr val="2C3E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700" b="0" i="0" u="none" strike="noStrike">
                <a:solidFill>
                  <a:srgbClr val="2C3E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DDE7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B6B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793920" cy="4206240"/>
          </a:xfrm>
          <a:prstGeom prst="rect">
            <a:avLst/>
          </a:prstGeom>
          <a:solidFill>
            <a:srgbClr val="2C3E44"/>
          </a:solidFill>
          <a:ln/>
        </p:spPr>
      </p:sp>
      <p:pic>
        <p:nvPicPr>
          <p:cNvPr id="3" name="Image 0" descr="/work/github-leemgs/sage/assets/sag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2920"/>
            <a:ext cx="320040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80560" y="685800"/>
            <a:ext cx="3739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 Engineering for Evidence-Applicable Artificial Intelligence</a:t>
            </a:r>
            <a:endParaRPr lang="en-US" sz="6600" dirty="0"/>
          </a:p>
        </p:txBody>
      </p:sp>
      <p:sp>
        <p:nvSpPr>
          <p:cNvPr id="5" name="Text 2"/>
          <p:cNvSpPr/>
          <p:nvPr/>
        </p:nvSpPr>
        <p:spPr>
          <a:xfrm>
            <a:off x="4480560" y="2240280"/>
            <a:ext cx="3739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FE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 blindness, SCQA and SituationCatch-Bench: a controlled diagnostic for whether available evidence actually applies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480560" y="3108960"/>
            <a:ext cx="3739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Geunsik Lim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Sungkyunkwan University   ·   github.com/leemgs/sage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914400" y="5029200"/>
            <a:ext cx="9555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situation blindness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914400" y="6035040"/>
            <a:ext cx="9555480" cy="3840480"/>
          </a:xfrm>
          <a:prstGeom prst="roundRect">
            <a:avLst>
              <a:gd name="adj" fmla="val 3810"/>
            </a:avLst>
          </a:prstGeom>
          <a:solidFill>
            <a:srgbClr val="EEF4F2"/>
          </a:solidFill>
          <a:ln/>
        </p:spPr>
      </p:sp>
      <p:sp>
        <p:nvSpPr>
          <p:cNvPr id="9" name="Text 6"/>
          <p:cNvSpPr/>
          <p:nvPr/>
        </p:nvSpPr>
        <p:spPr>
          <a:xfrm>
            <a:off x="1234440" y="6309360"/>
            <a:ext cx="8915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C3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answer supported by at least one available claim, yet inconsistent with the time, scope, modality, observer knowledge or possible world the query requires. The decisive evidence is already present — its applicability is wrong.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914400" y="10625328"/>
            <a:ext cx="868680" cy="868680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1062532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2057400" y="10515600"/>
            <a:ext cx="8412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C3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time — </a:t>
            </a:r>
            <a:pPr indent="0" marL="0">
              <a:buNone/>
            </a:pPr>
            <a:r>
              <a:rPr lang="en-US" sz="21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the resigned coordinator as the current one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914400" y="12682728"/>
            <a:ext cx="868680" cy="868680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1268272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2057400" y="12573000"/>
            <a:ext cx="8412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C3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Modality — </a:t>
            </a:r>
            <a:pPr indent="0" marL="0">
              <a:buNone/>
            </a:pPr>
            <a:r>
              <a:rPr lang="en-US" sz="21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a proposal into a decision that was never made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914400" y="14740128"/>
            <a:ext cx="868680" cy="868680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1474012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2057400" y="14630400"/>
            <a:ext cx="8412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C3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— </a:t>
            </a:r>
            <a:pPr indent="0" marL="0">
              <a:buNone/>
            </a:pPr>
            <a:r>
              <a:rPr lang="en-US" sz="21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extends a local policy to the whole organization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914400" y="16797528"/>
            <a:ext cx="868680" cy="868680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20" name="Text 17"/>
          <p:cNvSpPr/>
          <p:nvPr/>
        </p:nvSpPr>
        <p:spPr>
          <a:xfrm>
            <a:off x="914400" y="1679752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2057400" y="16687800"/>
            <a:ext cx="8412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C3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 / world — </a:t>
            </a:r>
            <a:pPr indent="0" marL="0">
              <a:buNone/>
            </a:pPr>
            <a:r>
              <a:rPr lang="en-US" sz="21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from facts the observer cannot know, or from the wrong (hypothetical) world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914400" y="19110960"/>
            <a:ext cx="9555480" cy="3291840"/>
          </a:xfrm>
          <a:prstGeom prst="roundRect">
            <a:avLst>
              <a:gd name="adj" fmla="val 4444"/>
            </a:avLst>
          </a:prstGeom>
          <a:solidFill>
            <a:srgbClr val="EEF4F2"/>
          </a:solidFill>
          <a:ln/>
        </p:spPr>
      </p:sp>
      <p:sp>
        <p:nvSpPr>
          <p:cNvPr id="23" name="Text 20"/>
          <p:cNvSpPr/>
          <p:nvPr/>
        </p:nvSpPr>
        <p:spPr>
          <a:xfrm>
            <a:off x="1234440" y="19339560"/>
            <a:ext cx="4023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50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16.5%</a:t>
            </a:r>
            <a:endParaRPr lang="en-US" sz="6400" dirty="0"/>
          </a:p>
        </p:txBody>
      </p:sp>
      <p:sp>
        <p:nvSpPr>
          <p:cNvPr id="24" name="Text 21"/>
          <p:cNvSpPr/>
          <p:nvPr/>
        </p:nvSpPr>
        <p:spPr>
          <a:xfrm>
            <a:off x="5394960" y="1938528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3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sampled NQ-Open questions depend on time or place, and updated evidence does not remove the gap (SituatedQA).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914400" y="22860000"/>
            <a:ext cx="9555480" cy="2286000"/>
          </a:xfrm>
          <a:prstGeom prst="roundRect">
            <a:avLst>
              <a:gd name="adj" fmla="val 6400"/>
            </a:avLst>
          </a:prstGeom>
          <a:solidFill>
            <a:srgbClr val="2C3E44"/>
          </a:solidFill>
          <a:ln/>
        </p:spPr>
      </p:sp>
      <p:sp>
        <p:nvSpPr>
          <p:cNvPr id="26" name="Text 23"/>
          <p:cNvSpPr/>
          <p:nvPr/>
        </p:nvSpPr>
        <p:spPr>
          <a:xfrm>
            <a:off x="1188720" y="22860000"/>
            <a:ext cx="9006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“Relevance is not applicability.”</a:t>
            </a:r>
            <a:endParaRPr lang="en-US" sz="3000" dirty="0"/>
          </a:p>
        </p:txBody>
      </p:sp>
      <p:sp>
        <p:nvSpPr>
          <p:cNvPr id="27" name="Text 24"/>
          <p:cNvSpPr/>
          <p:nvPr/>
        </p:nvSpPr>
        <p:spPr>
          <a:xfrm>
            <a:off x="914400" y="25603200"/>
            <a:ext cx="9555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Conventional factuality checks mark the supporting claim as true — while missing that it is true in the wrong situation.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11384280" y="5029200"/>
            <a:ext cx="9555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 engineering: the interface</a:t>
            </a:r>
            <a:endParaRPr lang="en-US" sz="3200" dirty="0"/>
          </a:p>
        </p:txBody>
      </p:sp>
      <p:sp>
        <p:nvSpPr>
          <p:cNvPr id="29" name="Shape 26"/>
          <p:cNvSpPr/>
          <p:nvPr/>
        </p:nvSpPr>
        <p:spPr>
          <a:xfrm>
            <a:off x="11384280" y="6035040"/>
            <a:ext cx="9555480" cy="3840480"/>
          </a:xfrm>
          <a:prstGeom prst="roundRect">
            <a:avLst>
              <a:gd name="adj" fmla="val 3810"/>
            </a:avLst>
          </a:prstGeom>
          <a:solidFill>
            <a:srgbClr val="EEF4F2"/>
          </a:solidFill>
          <a:ln/>
        </p:spPr>
      </p:sp>
      <p:sp>
        <p:nvSpPr>
          <p:cNvPr id="30" name="Text 27"/>
          <p:cNvSpPr/>
          <p:nvPr/>
        </p:nvSpPr>
        <p:spPr>
          <a:xfrm>
            <a:off x="11704320" y="6263640"/>
            <a:ext cx="8915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S(q, E) = { A, V, T, P, M, K, W, U }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11704320" y="7132320"/>
            <a:ext cx="8915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actors · events · valid time · scope · modality &amp; source · observer knowledge · possible world · unresolved variables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11704320" y="8229600"/>
            <a:ext cx="8915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080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π(S) ∈ {Answer · Clarify · Retrieve · Abstain · Act}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12024360" y="10515600"/>
            <a:ext cx="6949440" cy="15544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34" name="Shape 31"/>
          <p:cNvSpPr/>
          <p:nvPr/>
        </p:nvSpPr>
        <p:spPr>
          <a:xfrm>
            <a:off x="12024360" y="10515600"/>
            <a:ext cx="6949440" cy="1554480"/>
          </a:xfrm>
          <a:prstGeom prst="roundRect">
            <a:avLst>
              <a:gd name="adj" fmla="val 8235"/>
            </a:avLst>
          </a:prstGeom>
          <a:ln w="31750">
            <a:solidFill>
              <a:srgbClr val="50808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2207240" y="1051560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C3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Query, evidence, memory and tools</a:t>
            </a:r>
            <a:endParaRPr lang="en-US" sz="2100" dirty="0"/>
          </a:p>
        </p:txBody>
      </p:sp>
      <p:sp>
        <p:nvSpPr>
          <p:cNvPr id="36" name="Shape 33"/>
          <p:cNvSpPr/>
          <p:nvPr/>
        </p:nvSpPr>
        <p:spPr>
          <a:xfrm>
            <a:off x="15499080" y="12070080"/>
            <a:ext cx="0" cy="960120"/>
          </a:xfrm>
          <a:prstGeom prst="line">
            <a:avLst/>
          </a:prstGeom>
          <a:noFill/>
          <a:ln w="38100">
            <a:solidFill>
              <a:srgbClr val="2C3E44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12024360" y="13030200"/>
            <a:ext cx="6949440" cy="15544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38" name="Shape 35"/>
          <p:cNvSpPr/>
          <p:nvPr/>
        </p:nvSpPr>
        <p:spPr>
          <a:xfrm>
            <a:off x="12024360" y="13030200"/>
            <a:ext cx="6949440" cy="1554480"/>
          </a:xfrm>
          <a:prstGeom prst="roundRect">
            <a:avLst>
              <a:gd name="adj" fmla="val 8235"/>
            </a:avLst>
          </a:prstGeom>
          <a:ln w="31750">
            <a:solidFill>
              <a:srgbClr val="50808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2207240" y="1303020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C3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 sensing</a:t>
            </a:r>
            <a:endParaRPr lang="en-US" sz="2100" dirty="0"/>
          </a:p>
        </p:txBody>
      </p:sp>
      <p:sp>
        <p:nvSpPr>
          <p:cNvPr id="40" name="Shape 37"/>
          <p:cNvSpPr/>
          <p:nvPr/>
        </p:nvSpPr>
        <p:spPr>
          <a:xfrm>
            <a:off x="15499080" y="14584680"/>
            <a:ext cx="0" cy="960120"/>
          </a:xfrm>
          <a:prstGeom prst="line">
            <a:avLst/>
          </a:prstGeom>
          <a:noFill/>
          <a:ln w="38100">
            <a:solidFill>
              <a:srgbClr val="2C3E44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12024360" y="15544800"/>
            <a:ext cx="6949440" cy="15544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42" name="Shape 39"/>
          <p:cNvSpPr/>
          <p:nvPr/>
        </p:nvSpPr>
        <p:spPr>
          <a:xfrm>
            <a:off x="12024360" y="15544800"/>
            <a:ext cx="6949440" cy="1554480"/>
          </a:xfrm>
          <a:prstGeom prst="roundRect">
            <a:avLst>
              <a:gd name="adj" fmla="val 8235"/>
            </a:avLst>
          </a:prstGeom>
          <a:ln w="31750">
            <a:solidFill>
              <a:srgbClr val="50808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2207240" y="1554480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C3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Provenance-linked candidate states</a:t>
            </a:r>
            <a:endParaRPr lang="en-US" sz="2100" dirty="0"/>
          </a:p>
        </p:txBody>
      </p:sp>
      <p:sp>
        <p:nvSpPr>
          <p:cNvPr id="44" name="Shape 41"/>
          <p:cNvSpPr/>
          <p:nvPr/>
        </p:nvSpPr>
        <p:spPr>
          <a:xfrm>
            <a:off x="15499080" y="17099280"/>
            <a:ext cx="0" cy="960120"/>
          </a:xfrm>
          <a:prstGeom prst="line">
            <a:avLst/>
          </a:prstGeom>
          <a:noFill/>
          <a:ln w="38100">
            <a:solidFill>
              <a:srgbClr val="2C3E44"/>
            </a:solidFill>
            <a:prstDash val="solid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12024360" y="18059400"/>
            <a:ext cx="6949440" cy="15544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46" name="Shape 43"/>
          <p:cNvSpPr/>
          <p:nvPr/>
        </p:nvSpPr>
        <p:spPr>
          <a:xfrm>
            <a:off x="12024360" y="18059400"/>
            <a:ext cx="6949440" cy="1554480"/>
          </a:xfrm>
          <a:prstGeom prst="roundRect">
            <a:avLst>
              <a:gd name="adj" fmla="val 8235"/>
            </a:avLst>
          </a:prstGeom>
          <a:ln w="31750">
            <a:solidFill>
              <a:srgbClr val="50808E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2207240" y="1805940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C3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Applicability validation</a:t>
            </a:r>
            <a:endParaRPr lang="en-US" sz="2100" dirty="0"/>
          </a:p>
        </p:txBody>
      </p:sp>
      <p:sp>
        <p:nvSpPr>
          <p:cNvPr id="48" name="Shape 45"/>
          <p:cNvSpPr/>
          <p:nvPr/>
        </p:nvSpPr>
        <p:spPr>
          <a:xfrm>
            <a:off x="15499080" y="19613880"/>
            <a:ext cx="0" cy="960120"/>
          </a:xfrm>
          <a:prstGeom prst="line">
            <a:avLst/>
          </a:prstGeom>
          <a:noFill/>
          <a:ln w="38100">
            <a:solidFill>
              <a:srgbClr val="2C3E44"/>
            </a:solidFill>
            <a:prstDash val="solid"/>
            <a:tailEnd type="triangle"/>
          </a:ln>
        </p:spPr>
      </p:sp>
      <p:sp>
        <p:nvSpPr>
          <p:cNvPr id="49" name="Shape 46"/>
          <p:cNvSpPr/>
          <p:nvPr/>
        </p:nvSpPr>
        <p:spPr>
          <a:xfrm>
            <a:off x="12024360" y="20574000"/>
            <a:ext cx="6949440" cy="1554480"/>
          </a:xfrm>
          <a:prstGeom prst="roundRect">
            <a:avLst>
              <a:gd name="adj" fmla="val 9412"/>
            </a:avLst>
          </a:prstGeom>
          <a:solidFill>
            <a:srgbClr val="50808E"/>
          </a:solidFill>
          <a:ln/>
        </p:spPr>
      </p:sp>
      <p:sp>
        <p:nvSpPr>
          <p:cNvPr id="50" name="Text 47"/>
          <p:cNvSpPr/>
          <p:nvPr/>
        </p:nvSpPr>
        <p:spPr>
          <a:xfrm>
            <a:off x="12207240" y="2057400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Answer, retrieve, clarify or abstain</a:t>
            </a:r>
            <a:endParaRPr lang="en-US" sz="2100" dirty="0"/>
          </a:p>
        </p:txBody>
      </p:sp>
      <p:sp>
        <p:nvSpPr>
          <p:cNvPr id="51" name="Shape 48"/>
          <p:cNvSpPr/>
          <p:nvPr/>
        </p:nvSpPr>
        <p:spPr>
          <a:xfrm>
            <a:off x="19293840" y="13807440"/>
            <a:ext cx="0" cy="5029200"/>
          </a:xfrm>
          <a:prstGeom prst="line">
            <a:avLst/>
          </a:prstGeom>
          <a:noFill/>
          <a:ln w="31750">
            <a:solidFill>
              <a:srgbClr val="5B6B70"/>
            </a:solidFill>
            <a:prstDash val="dash"/>
            <a:headEnd type="triangle"/>
            <a:tailEnd type="none"/>
          </a:ln>
        </p:spPr>
      </p:sp>
      <p:sp>
        <p:nvSpPr>
          <p:cNvPr id="52" name="Text 49"/>
          <p:cNvSpPr/>
          <p:nvPr/>
        </p:nvSpPr>
        <p:spPr>
          <a:xfrm>
            <a:off x="19476720" y="15179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variable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11384280" y="23362920"/>
            <a:ext cx="9555480" cy="3291840"/>
          </a:xfrm>
          <a:prstGeom prst="roundRect">
            <a:avLst>
              <a:gd name="adj" fmla="val 4444"/>
            </a:avLst>
          </a:prstGeom>
          <a:solidFill>
            <a:srgbClr val="EEF4F2"/>
          </a:solidFill>
          <a:ln/>
        </p:spPr>
      </p:sp>
      <p:sp>
        <p:nvSpPr>
          <p:cNvPr id="54" name="Text 51"/>
          <p:cNvSpPr/>
          <p:nvPr/>
        </p:nvSpPr>
        <p:spPr>
          <a:xfrm>
            <a:off x="11704320" y="23637240"/>
            <a:ext cx="8915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C3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operations. </a:t>
            </a:r>
            <a:pPr indent="0" marL="0">
              <a:buNone/>
            </a:pPr>
            <a:r>
              <a:rPr lang="en-US" sz="2000" dirty="0">
                <a:solidFill>
                  <a:srgbClr val="2C3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sensing · assembly · updating · validation · policy · observability.  </a:t>
            </a:r>
            <a:pPr indent="0" marL="0">
              <a:buNone/>
            </a:pPr>
            <a:r>
              <a:rPr lang="en-US" sz="2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layer consumes retrieval, memory, tool and harness outputs and returns applicability decisions and unresolved-state signals — it replaces none of those disciplines.</a:t>
            </a:r>
            <a:endParaRPr lang="en-US" sz="2000" dirty="0"/>
          </a:p>
        </p:txBody>
      </p:sp>
      <p:sp>
        <p:nvSpPr>
          <p:cNvPr id="55" name="Text 52"/>
          <p:cNvSpPr/>
          <p:nvPr/>
        </p:nvSpPr>
        <p:spPr>
          <a:xfrm>
            <a:off x="21854160" y="5029200"/>
            <a:ext cx="9555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SCQA &amp; SituationCatch-Bench</a:t>
            </a:r>
            <a:endParaRPr lang="en-US" sz="3200" dirty="0"/>
          </a:p>
        </p:txBody>
      </p:sp>
      <p:sp>
        <p:nvSpPr>
          <p:cNvPr id="56" name="Shape 53"/>
          <p:cNvSpPr/>
          <p:nvPr/>
        </p:nvSpPr>
        <p:spPr>
          <a:xfrm>
            <a:off x="21854160" y="6035040"/>
            <a:ext cx="3002280" cy="2468880"/>
          </a:xfrm>
          <a:prstGeom prst="roundRect">
            <a:avLst>
              <a:gd name="adj" fmla="val 5926"/>
            </a:avLst>
          </a:prstGeom>
          <a:solidFill>
            <a:srgbClr val="EEF4F2"/>
          </a:solidFill>
          <a:ln/>
        </p:spPr>
      </p:sp>
      <p:sp>
        <p:nvSpPr>
          <p:cNvPr id="57" name="Text 54"/>
          <p:cNvSpPr/>
          <p:nvPr/>
        </p:nvSpPr>
        <p:spPr>
          <a:xfrm>
            <a:off x="21854160" y="6172200"/>
            <a:ext cx="3002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0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4,200</a:t>
            </a:r>
            <a:endParaRPr lang="en-US" sz="4400" dirty="0"/>
          </a:p>
        </p:txBody>
      </p:sp>
      <p:sp>
        <p:nvSpPr>
          <p:cNvPr id="58" name="Text 55"/>
          <p:cNvSpPr/>
          <p:nvPr/>
        </p:nvSpPr>
        <p:spPr>
          <a:xfrm>
            <a:off x="21945600" y="7452360"/>
            <a:ext cx="2819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items</a:t>
            </a:r>
            <a:endParaRPr lang="en-US" sz="1700" dirty="0"/>
          </a:p>
        </p:txBody>
      </p:sp>
      <p:sp>
        <p:nvSpPr>
          <p:cNvPr id="59" name="Shape 56"/>
          <p:cNvSpPr/>
          <p:nvPr/>
        </p:nvSpPr>
        <p:spPr>
          <a:xfrm>
            <a:off x="25130760" y="6035040"/>
            <a:ext cx="3002280" cy="2468880"/>
          </a:xfrm>
          <a:prstGeom prst="roundRect">
            <a:avLst>
              <a:gd name="adj" fmla="val 5926"/>
            </a:avLst>
          </a:prstGeom>
          <a:solidFill>
            <a:srgbClr val="EEF4F2"/>
          </a:solidFill>
          <a:ln/>
        </p:spPr>
      </p:sp>
      <p:sp>
        <p:nvSpPr>
          <p:cNvPr id="60" name="Text 57"/>
          <p:cNvSpPr/>
          <p:nvPr/>
        </p:nvSpPr>
        <p:spPr>
          <a:xfrm>
            <a:off x="25130760" y="6172200"/>
            <a:ext cx="3002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0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400" dirty="0"/>
          </a:p>
        </p:txBody>
      </p:sp>
      <p:sp>
        <p:nvSpPr>
          <p:cNvPr id="61" name="Text 58"/>
          <p:cNvSpPr/>
          <p:nvPr/>
        </p:nvSpPr>
        <p:spPr>
          <a:xfrm>
            <a:off x="25222200" y="7452360"/>
            <a:ext cx="2819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categories</a:t>
            </a:r>
            <a:endParaRPr lang="en-US" sz="1700" dirty="0"/>
          </a:p>
        </p:txBody>
      </p:sp>
      <p:sp>
        <p:nvSpPr>
          <p:cNvPr id="62" name="Shape 59"/>
          <p:cNvSpPr/>
          <p:nvPr/>
        </p:nvSpPr>
        <p:spPr>
          <a:xfrm>
            <a:off x="28407360" y="6035040"/>
            <a:ext cx="3002280" cy="2468880"/>
          </a:xfrm>
          <a:prstGeom prst="roundRect">
            <a:avLst>
              <a:gd name="adj" fmla="val 5926"/>
            </a:avLst>
          </a:prstGeom>
          <a:solidFill>
            <a:srgbClr val="EEF4F2"/>
          </a:solidFill>
          <a:ln/>
        </p:spPr>
      </p:sp>
      <p:sp>
        <p:nvSpPr>
          <p:cNvPr id="63" name="Text 60"/>
          <p:cNvSpPr/>
          <p:nvPr/>
        </p:nvSpPr>
        <p:spPr>
          <a:xfrm>
            <a:off x="28407360" y="6172200"/>
            <a:ext cx="3002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0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400" dirty="0"/>
          </a:p>
        </p:txBody>
      </p:sp>
      <p:sp>
        <p:nvSpPr>
          <p:cNvPr id="64" name="Text 61"/>
          <p:cNvSpPr/>
          <p:nvPr/>
        </p:nvSpPr>
        <p:spPr>
          <a:xfrm>
            <a:off x="28498800" y="7452360"/>
            <a:ext cx="2819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parameters</a:t>
            </a:r>
            <a:endParaRPr lang="en-US" sz="1700" dirty="0"/>
          </a:p>
        </p:txBody>
      </p:sp>
      <p:sp>
        <p:nvSpPr>
          <p:cNvPr id="65" name="Shape 62"/>
          <p:cNvSpPr/>
          <p:nvPr/>
        </p:nvSpPr>
        <p:spPr>
          <a:xfrm>
            <a:off x="21854160" y="8961120"/>
            <a:ext cx="4640580" cy="868680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/>
        </p:spPr>
      </p:sp>
      <p:sp>
        <p:nvSpPr>
          <p:cNvPr id="66" name="Shape 63"/>
          <p:cNvSpPr/>
          <p:nvPr/>
        </p:nvSpPr>
        <p:spPr>
          <a:xfrm>
            <a:off x="21854160" y="8961120"/>
            <a:ext cx="4640580" cy="868680"/>
          </a:xfrm>
          <a:prstGeom prst="roundRect">
            <a:avLst>
              <a:gd name="adj" fmla="val 12632"/>
            </a:avLst>
          </a:prstGeom>
          <a:ln w="25400">
            <a:solidFill>
              <a:srgbClr val="84B59F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21854160" y="8961120"/>
            <a:ext cx="46405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C3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</a:t>
            </a:r>
            <a:endParaRPr lang="en-US" sz="1900" dirty="0"/>
          </a:p>
        </p:txBody>
      </p:sp>
      <p:sp>
        <p:nvSpPr>
          <p:cNvPr id="68" name="Shape 65"/>
          <p:cNvSpPr/>
          <p:nvPr/>
        </p:nvSpPr>
        <p:spPr>
          <a:xfrm>
            <a:off x="26769060" y="8961120"/>
            <a:ext cx="4640580" cy="868680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/>
        </p:spPr>
      </p:sp>
      <p:sp>
        <p:nvSpPr>
          <p:cNvPr id="69" name="Shape 66"/>
          <p:cNvSpPr/>
          <p:nvPr/>
        </p:nvSpPr>
        <p:spPr>
          <a:xfrm>
            <a:off x="26769060" y="8961120"/>
            <a:ext cx="4640580" cy="868680"/>
          </a:xfrm>
          <a:prstGeom prst="roundRect">
            <a:avLst>
              <a:gd name="adj" fmla="val 12632"/>
            </a:avLst>
          </a:prstGeom>
          <a:ln w="25400">
            <a:solidFill>
              <a:srgbClr val="84B59F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26769060" y="8961120"/>
            <a:ext cx="46405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C3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premise</a:t>
            </a:r>
            <a:endParaRPr lang="en-US" sz="1900" dirty="0"/>
          </a:p>
        </p:txBody>
      </p:sp>
      <p:sp>
        <p:nvSpPr>
          <p:cNvPr id="71" name="Shape 68"/>
          <p:cNvSpPr/>
          <p:nvPr/>
        </p:nvSpPr>
        <p:spPr>
          <a:xfrm>
            <a:off x="21854160" y="10058400"/>
            <a:ext cx="4640580" cy="868680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/>
        </p:spPr>
      </p:sp>
      <p:sp>
        <p:nvSpPr>
          <p:cNvPr id="72" name="Shape 69"/>
          <p:cNvSpPr/>
          <p:nvPr/>
        </p:nvSpPr>
        <p:spPr>
          <a:xfrm>
            <a:off x="21854160" y="10058400"/>
            <a:ext cx="4640580" cy="868680"/>
          </a:xfrm>
          <a:prstGeom prst="roundRect">
            <a:avLst>
              <a:gd name="adj" fmla="val 12632"/>
            </a:avLst>
          </a:prstGeom>
          <a:ln w="25400">
            <a:solidFill>
              <a:srgbClr val="84B59F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21854160" y="10058400"/>
            <a:ext cx="46405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C3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conflict</a:t>
            </a:r>
            <a:endParaRPr lang="en-US" sz="1900" dirty="0"/>
          </a:p>
        </p:txBody>
      </p:sp>
      <p:sp>
        <p:nvSpPr>
          <p:cNvPr id="74" name="Shape 71"/>
          <p:cNvSpPr/>
          <p:nvPr/>
        </p:nvSpPr>
        <p:spPr>
          <a:xfrm>
            <a:off x="26769060" y="10058400"/>
            <a:ext cx="4640580" cy="868680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/>
        </p:spPr>
      </p:sp>
      <p:sp>
        <p:nvSpPr>
          <p:cNvPr id="75" name="Shape 72"/>
          <p:cNvSpPr/>
          <p:nvPr/>
        </p:nvSpPr>
        <p:spPr>
          <a:xfrm>
            <a:off x="26769060" y="10058400"/>
            <a:ext cx="4640580" cy="868680"/>
          </a:xfrm>
          <a:prstGeom prst="roundRect">
            <a:avLst>
              <a:gd name="adj" fmla="val 12632"/>
            </a:avLst>
          </a:prstGeom>
          <a:ln w="25400">
            <a:solidFill>
              <a:srgbClr val="84B59F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26769060" y="10058400"/>
            <a:ext cx="46405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C3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modality</a:t>
            </a:r>
            <a:endParaRPr lang="en-US" sz="1900" dirty="0"/>
          </a:p>
        </p:txBody>
      </p:sp>
      <p:sp>
        <p:nvSpPr>
          <p:cNvPr id="77" name="Shape 74"/>
          <p:cNvSpPr/>
          <p:nvPr/>
        </p:nvSpPr>
        <p:spPr>
          <a:xfrm>
            <a:off x="21854160" y="11155680"/>
            <a:ext cx="4640580" cy="868680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/>
        </p:spPr>
      </p:sp>
      <p:sp>
        <p:nvSpPr>
          <p:cNvPr id="78" name="Shape 75"/>
          <p:cNvSpPr/>
          <p:nvPr/>
        </p:nvSpPr>
        <p:spPr>
          <a:xfrm>
            <a:off x="21854160" y="11155680"/>
            <a:ext cx="4640580" cy="868680"/>
          </a:xfrm>
          <a:prstGeom prst="roundRect">
            <a:avLst>
              <a:gd name="adj" fmla="val 12632"/>
            </a:avLst>
          </a:prstGeom>
          <a:ln w="25400">
            <a:solidFill>
              <a:srgbClr val="84B59F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21854160" y="11155680"/>
            <a:ext cx="46405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C3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900" dirty="0"/>
          </a:p>
        </p:txBody>
      </p:sp>
      <p:sp>
        <p:nvSpPr>
          <p:cNvPr id="80" name="Shape 77"/>
          <p:cNvSpPr/>
          <p:nvPr/>
        </p:nvSpPr>
        <p:spPr>
          <a:xfrm>
            <a:off x="26769060" y="11155680"/>
            <a:ext cx="4640580" cy="868680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/>
        </p:spPr>
      </p:sp>
      <p:sp>
        <p:nvSpPr>
          <p:cNvPr id="81" name="Shape 78"/>
          <p:cNvSpPr/>
          <p:nvPr/>
        </p:nvSpPr>
        <p:spPr>
          <a:xfrm>
            <a:off x="26769060" y="11155680"/>
            <a:ext cx="4640580" cy="868680"/>
          </a:xfrm>
          <a:prstGeom prst="roundRect">
            <a:avLst>
              <a:gd name="adj" fmla="val 12632"/>
            </a:avLst>
          </a:prstGeom>
          <a:ln w="25400">
            <a:solidFill>
              <a:srgbClr val="84B59F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26769060" y="11155680"/>
            <a:ext cx="46405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C3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</a:t>
            </a:r>
            <a:endParaRPr lang="en-US" sz="1900" dirty="0"/>
          </a:p>
        </p:txBody>
      </p:sp>
      <p:sp>
        <p:nvSpPr>
          <p:cNvPr id="83" name="Shape 80"/>
          <p:cNvSpPr/>
          <p:nvPr/>
        </p:nvSpPr>
        <p:spPr>
          <a:xfrm>
            <a:off x="21854160" y="12252960"/>
            <a:ext cx="4640580" cy="868680"/>
          </a:xfrm>
          <a:prstGeom prst="roundRect">
            <a:avLst>
              <a:gd name="adj" fmla="val 16842"/>
            </a:avLst>
          </a:prstGeom>
          <a:solidFill>
            <a:srgbClr val="84B59F"/>
          </a:solidFill>
          <a:ln/>
        </p:spPr>
      </p:sp>
      <p:sp>
        <p:nvSpPr>
          <p:cNvPr id="84" name="Text 81"/>
          <p:cNvSpPr/>
          <p:nvPr/>
        </p:nvSpPr>
        <p:spPr>
          <a:xfrm>
            <a:off x="21854160" y="12252960"/>
            <a:ext cx="46405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counterfactual</a:t>
            </a:r>
            <a:endParaRPr lang="en-US" sz="1900" dirty="0"/>
          </a:p>
        </p:txBody>
      </p:sp>
      <p:sp>
        <p:nvSpPr>
          <p:cNvPr id="85" name="Text 82"/>
          <p:cNvSpPr/>
          <p:nvPr/>
        </p:nvSpPr>
        <p:spPr>
          <a:xfrm>
            <a:off x="21854160" y="13670280"/>
            <a:ext cx="9555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Oracle-state accuracy by method (%)</a:t>
            </a:r>
            <a:endParaRPr lang="en-US" sz="2200" dirty="0"/>
          </a:p>
        </p:txBody>
      </p:sp>
      <p:graphicFrame>
        <p:nvGraphicFramePr>
          <p:cNvPr id="86" name="Chart 0" descr=""/>
          <p:cNvGraphicFramePr/>
          <p:nvPr/>
        </p:nvGraphicFramePr>
        <p:xfrm>
          <a:off x="21854160" y="14401800"/>
          <a:ext cx="955548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7" name="Shape 83"/>
          <p:cNvSpPr/>
          <p:nvPr/>
        </p:nvSpPr>
        <p:spPr>
          <a:xfrm>
            <a:off x="21854160" y="19796760"/>
            <a:ext cx="9555480" cy="4023360"/>
          </a:xfrm>
          <a:prstGeom prst="roundRect">
            <a:avLst>
              <a:gd name="adj" fmla="val 3636"/>
            </a:avLst>
          </a:prstGeom>
          <a:solidFill>
            <a:srgbClr val="EEF4F2"/>
          </a:solidFill>
          <a:ln/>
        </p:spPr>
      </p:sp>
      <p:sp>
        <p:nvSpPr>
          <p:cNvPr id="88" name="Text 84"/>
          <p:cNvSpPr/>
          <p:nvPr/>
        </p:nvSpPr>
        <p:spPr>
          <a:xfrm>
            <a:off x="22174200" y="20071080"/>
            <a:ext cx="8915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C3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ablations. </a:t>
            </a:r>
            <a:pPr indent="0" marL="0">
              <a:buNone/>
            </a:pPr>
            <a:r>
              <a:rPr lang="en-US" sz="2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one state variable selectively damages exactly its matching category (time → 93.5%, modality / scope / observer / missing → 85.7%). Behaviour changes because the specific required variable disappears — not because of a generic instruction to be cautious. Benchmark and solver share one schema, so results are a protocol conformance suite, not natural-language performance.</a:t>
            </a:r>
            <a:endParaRPr lang="en-US" sz="2000" dirty="0"/>
          </a:p>
        </p:txBody>
      </p:sp>
      <p:sp>
        <p:nvSpPr>
          <p:cNvPr id="89" name="Text 85"/>
          <p:cNvSpPr/>
          <p:nvPr/>
        </p:nvSpPr>
        <p:spPr>
          <a:xfrm>
            <a:off x="32324040" y="5029200"/>
            <a:ext cx="9555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sensing is the bottleneck</a:t>
            </a:r>
            <a:endParaRPr lang="en-US" sz="3200" dirty="0"/>
          </a:p>
        </p:txBody>
      </p:sp>
      <p:sp>
        <p:nvSpPr>
          <p:cNvPr id="90" name="Shape 86"/>
          <p:cNvSpPr/>
          <p:nvPr/>
        </p:nvSpPr>
        <p:spPr>
          <a:xfrm>
            <a:off x="32324040" y="6035040"/>
            <a:ext cx="3002280" cy="2468880"/>
          </a:xfrm>
          <a:prstGeom prst="roundRect">
            <a:avLst>
              <a:gd name="adj" fmla="val 5926"/>
            </a:avLst>
          </a:prstGeom>
          <a:solidFill>
            <a:srgbClr val="EEF4F2"/>
          </a:solidFill>
          <a:ln/>
        </p:spPr>
      </p:sp>
      <p:sp>
        <p:nvSpPr>
          <p:cNvPr id="91" name="Text 87"/>
          <p:cNvSpPr/>
          <p:nvPr/>
        </p:nvSpPr>
        <p:spPr>
          <a:xfrm>
            <a:off x="32324040" y="6172200"/>
            <a:ext cx="3002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4B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100.0%</a:t>
            </a:r>
            <a:endParaRPr lang="en-US" sz="3400" dirty="0"/>
          </a:p>
        </p:txBody>
      </p:sp>
      <p:sp>
        <p:nvSpPr>
          <p:cNvPr id="92" name="Text 88"/>
          <p:cNvSpPr/>
          <p:nvPr/>
        </p:nvSpPr>
        <p:spPr>
          <a:xfrm>
            <a:off x="32415480" y="7452360"/>
            <a:ext cx="2819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state</a:t>
            </a:r>
            <a:endParaRPr lang="en-US" sz="1700" dirty="0"/>
          </a:p>
        </p:txBody>
      </p:sp>
      <p:sp>
        <p:nvSpPr>
          <p:cNvPr id="93" name="Shape 89"/>
          <p:cNvSpPr/>
          <p:nvPr/>
        </p:nvSpPr>
        <p:spPr>
          <a:xfrm>
            <a:off x="35600640" y="6035040"/>
            <a:ext cx="3002280" cy="2468880"/>
          </a:xfrm>
          <a:prstGeom prst="roundRect">
            <a:avLst>
              <a:gd name="adj" fmla="val 5926"/>
            </a:avLst>
          </a:prstGeom>
          <a:solidFill>
            <a:srgbClr val="EEF4F2"/>
          </a:solidFill>
          <a:ln/>
        </p:spPr>
      </p:sp>
      <p:sp>
        <p:nvSpPr>
          <p:cNvPr id="94" name="Text 90"/>
          <p:cNvSpPr/>
          <p:nvPr/>
        </p:nvSpPr>
        <p:spPr>
          <a:xfrm>
            <a:off x="35600640" y="6172200"/>
            <a:ext cx="3002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0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77.9%</a:t>
            </a:r>
            <a:endParaRPr lang="en-US" sz="3400" dirty="0"/>
          </a:p>
        </p:txBody>
      </p:sp>
      <p:sp>
        <p:nvSpPr>
          <p:cNvPr id="95" name="Text 91"/>
          <p:cNvSpPr/>
          <p:nvPr/>
        </p:nvSpPr>
        <p:spPr>
          <a:xfrm>
            <a:off x="35692080" y="7452360"/>
            <a:ext cx="2819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state</a:t>
            </a:r>
            <a:endParaRPr lang="en-US" sz="1700" dirty="0"/>
          </a:p>
        </p:txBody>
      </p:sp>
      <p:sp>
        <p:nvSpPr>
          <p:cNvPr id="96" name="Shape 92"/>
          <p:cNvSpPr/>
          <p:nvPr/>
        </p:nvSpPr>
        <p:spPr>
          <a:xfrm>
            <a:off x="38877240" y="6035040"/>
            <a:ext cx="3002280" cy="2468880"/>
          </a:xfrm>
          <a:prstGeom prst="roundRect">
            <a:avLst>
              <a:gd name="adj" fmla="val 5926"/>
            </a:avLst>
          </a:prstGeom>
          <a:solidFill>
            <a:srgbClr val="EEF4F2"/>
          </a:solidFill>
          <a:ln/>
        </p:spPr>
      </p:sp>
      <p:sp>
        <p:nvSpPr>
          <p:cNvPr id="97" name="Text 93"/>
          <p:cNvSpPr/>
          <p:nvPr/>
        </p:nvSpPr>
        <p:spPr>
          <a:xfrm>
            <a:off x="38877240" y="6172200"/>
            <a:ext cx="3002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3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35.1%</a:t>
            </a:r>
            <a:endParaRPr lang="en-US" sz="3400" dirty="0"/>
          </a:p>
        </p:txBody>
      </p:sp>
      <p:sp>
        <p:nvSpPr>
          <p:cNvPr id="98" name="Text 94"/>
          <p:cNvSpPr/>
          <p:nvPr/>
        </p:nvSpPr>
        <p:spPr>
          <a:xfrm>
            <a:off x="38968680" y="7452360"/>
            <a:ext cx="2819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corrupted state</a:t>
            </a:r>
            <a:endParaRPr lang="en-US" sz="1700" dirty="0"/>
          </a:p>
        </p:txBody>
      </p:sp>
      <p:graphicFrame>
        <p:nvGraphicFramePr>
          <p:cNvPr id="99" name="Chart 1" descr=""/>
          <p:cNvGraphicFramePr/>
          <p:nvPr/>
        </p:nvGraphicFramePr>
        <p:xfrm>
          <a:off x="32324040" y="8961120"/>
          <a:ext cx="95554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0" name="Shape 95"/>
          <p:cNvSpPr/>
          <p:nvPr/>
        </p:nvSpPr>
        <p:spPr>
          <a:xfrm>
            <a:off x="32324040" y="14173200"/>
            <a:ext cx="9555480" cy="3383280"/>
          </a:xfrm>
          <a:prstGeom prst="roundRect">
            <a:avLst>
              <a:gd name="adj" fmla="val 4324"/>
            </a:avLst>
          </a:prstGeom>
          <a:solidFill>
            <a:srgbClr val="EEF4F2"/>
          </a:solidFill>
          <a:ln/>
        </p:spPr>
      </p:sp>
      <p:sp>
        <p:nvSpPr>
          <p:cNvPr id="101" name="Text 96"/>
          <p:cNvSpPr/>
          <p:nvPr/>
        </p:nvSpPr>
        <p:spPr>
          <a:xfrm>
            <a:off x="32644080" y="14447520"/>
            <a:ext cx="8915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C3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text sensor (claim level). </a:t>
            </a:r>
            <a:pPr indent="0" marL="0">
              <a:buNone/>
            </a:pPr>
            <a:r>
              <a:rPr lang="en-US" sz="2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0% · Validity 0% · Actor 30.8% · Scope 61.5% · Event 92.3% · Modality 100%. All 927 final errors are attributable to sensing; update and policy are exact under gold state.</a:t>
            </a:r>
            <a:endParaRPr lang="en-US" sz="2000" dirty="0"/>
          </a:p>
        </p:txBody>
      </p:sp>
      <p:sp>
        <p:nvSpPr>
          <p:cNvPr id="102" name="Text 97"/>
          <p:cNvSpPr/>
          <p:nvPr/>
        </p:nvSpPr>
        <p:spPr>
          <a:xfrm>
            <a:off x="32324040" y="17830800"/>
            <a:ext cx="9555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ladder: established vs open</a:t>
            </a:r>
            <a:endParaRPr lang="en-US" sz="2200" dirty="0"/>
          </a:p>
        </p:txBody>
      </p:sp>
      <p:sp>
        <p:nvSpPr>
          <p:cNvPr id="103" name="Shape 98"/>
          <p:cNvSpPr/>
          <p:nvPr/>
        </p:nvSpPr>
        <p:spPr>
          <a:xfrm>
            <a:off x="32324040" y="18653760"/>
            <a:ext cx="914400" cy="658368"/>
          </a:xfrm>
          <a:prstGeom prst="roundRect">
            <a:avLst>
              <a:gd name="adj" fmla="val 13889"/>
            </a:avLst>
          </a:prstGeom>
          <a:solidFill>
            <a:srgbClr val="84B59F"/>
          </a:solidFill>
          <a:ln/>
        </p:spPr>
      </p:sp>
      <p:sp>
        <p:nvSpPr>
          <p:cNvPr id="104" name="Text 99"/>
          <p:cNvSpPr/>
          <p:nvPr/>
        </p:nvSpPr>
        <p:spPr>
          <a:xfrm>
            <a:off x="32324040" y="1865376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</a:t>
            </a:r>
            <a:endParaRPr lang="en-US" sz="1800" dirty="0"/>
          </a:p>
        </p:txBody>
      </p:sp>
      <p:sp>
        <p:nvSpPr>
          <p:cNvPr id="105" name="Text 100"/>
          <p:cNvSpPr/>
          <p:nvPr/>
        </p:nvSpPr>
        <p:spPr>
          <a:xfrm>
            <a:off x="33467040" y="186080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C3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definition — failure class is testable</a:t>
            </a:r>
            <a:endParaRPr lang="en-US" sz="1700" dirty="0"/>
          </a:p>
        </p:txBody>
      </p:sp>
      <p:sp>
        <p:nvSpPr>
          <p:cNvPr id="106" name="Shape 101"/>
          <p:cNvSpPr/>
          <p:nvPr/>
        </p:nvSpPr>
        <p:spPr>
          <a:xfrm>
            <a:off x="32324040" y="19495008"/>
            <a:ext cx="914400" cy="658368"/>
          </a:xfrm>
          <a:prstGeom prst="roundRect">
            <a:avLst>
              <a:gd name="adj" fmla="val 13889"/>
            </a:avLst>
          </a:prstGeom>
          <a:solidFill>
            <a:srgbClr val="84B59F"/>
          </a:solidFill>
          <a:ln/>
        </p:spPr>
      </p:sp>
      <p:sp>
        <p:nvSpPr>
          <p:cNvPr id="107" name="Text 102"/>
          <p:cNvSpPr/>
          <p:nvPr/>
        </p:nvSpPr>
        <p:spPr>
          <a:xfrm>
            <a:off x="32324040" y="1949500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</a:t>
            </a:r>
            <a:endParaRPr lang="en-US" sz="1800" dirty="0"/>
          </a:p>
        </p:txBody>
      </p:sp>
      <p:sp>
        <p:nvSpPr>
          <p:cNvPr id="108" name="Text 103"/>
          <p:cNvSpPr/>
          <p:nvPr/>
        </p:nvSpPr>
        <p:spPr>
          <a:xfrm>
            <a:off x="33467040" y="19449288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C3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unit tests — invariants executable, causally separable</a:t>
            </a:r>
            <a:endParaRPr lang="en-US" sz="1700" dirty="0"/>
          </a:p>
        </p:txBody>
      </p:sp>
      <p:sp>
        <p:nvSpPr>
          <p:cNvPr id="109" name="Shape 104"/>
          <p:cNvSpPr/>
          <p:nvPr/>
        </p:nvSpPr>
        <p:spPr>
          <a:xfrm>
            <a:off x="32324040" y="20336256"/>
            <a:ext cx="914400" cy="658368"/>
          </a:xfrm>
          <a:prstGeom prst="roundRect">
            <a:avLst>
              <a:gd name="adj" fmla="val 13889"/>
            </a:avLst>
          </a:prstGeom>
          <a:solidFill>
            <a:srgbClr val="84B59F"/>
          </a:solidFill>
          <a:ln/>
        </p:spPr>
      </p:sp>
      <p:sp>
        <p:nvSpPr>
          <p:cNvPr id="110" name="Text 105"/>
          <p:cNvSpPr/>
          <p:nvPr/>
        </p:nvSpPr>
        <p:spPr>
          <a:xfrm>
            <a:off x="32324040" y="20336256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E3</a:t>
            </a:r>
            <a:endParaRPr lang="en-US" sz="1800" dirty="0"/>
          </a:p>
        </p:txBody>
      </p:sp>
      <p:sp>
        <p:nvSpPr>
          <p:cNvPr id="111" name="Text 106"/>
          <p:cNvSpPr/>
          <p:nvPr/>
        </p:nvSpPr>
        <p:spPr>
          <a:xfrm>
            <a:off x="33467040" y="20290536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C3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prevalence — independent QA literature</a:t>
            </a:r>
            <a:endParaRPr lang="en-US" sz="1700" dirty="0"/>
          </a:p>
        </p:txBody>
      </p:sp>
      <p:sp>
        <p:nvSpPr>
          <p:cNvPr id="112" name="Shape 107"/>
          <p:cNvSpPr/>
          <p:nvPr/>
        </p:nvSpPr>
        <p:spPr>
          <a:xfrm>
            <a:off x="32324040" y="21177504"/>
            <a:ext cx="914400" cy="658368"/>
          </a:xfrm>
          <a:prstGeom prst="roundRect">
            <a:avLst>
              <a:gd name="adj" fmla="val 13889"/>
            </a:avLst>
          </a:prstGeom>
          <a:solidFill>
            <a:srgbClr val="84B59F"/>
          </a:solidFill>
          <a:ln/>
        </p:spPr>
      </p:sp>
      <p:sp>
        <p:nvSpPr>
          <p:cNvPr id="113" name="Text 108"/>
          <p:cNvSpPr/>
          <p:nvPr/>
        </p:nvSpPr>
        <p:spPr>
          <a:xfrm>
            <a:off x="32324040" y="2117750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E4</a:t>
            </a:r>
            <a:endParaRPr lang="en-US" sz="1800" dirty="0"/>
          </a:p>
        </p:txBody>
      </p:sp>
      <p:sp>
        <p:nvSpPr>
          <p:cNvPr id="114" name="Text 109"/>
          <p:cNvSpPr/>
          <p:nvPr/>
        </p:nvSpPr>
        <p:spPr>
          <a:xfrm>
            <a:off x="33467040" y="21131784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C3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Predicted-state control — sensing errors reduce accuracy</a:t>
            </a:r>
            <a:endParaRPr lang="en-US" sz="1700" dirty="0"/>
          </a:p>
        </p:txBody>
      </p:sp>
      <p:sp>
        <p:nvSpPr>
          <p:cNvPr id="115" name="Shape 110"/>
          <p:cNvSpPr/>
          <p:nvPr/>
        </p:nvSpPr>
        <p:spPr>
          <a:xfrm>
            <a:off x="32324040" y="22018752"/>
            <a:ext cx="914400" cy="658368"/>
          </a:xfrm>
          <a:prstGeom prst="roundRect">
            <a:avLst>
              <a:gd name="adj" fmla="val 13889"/>
            </a:avLst>
          </a:prstGeom>
          <a:solidFill>
            <a:srgbClr val="C9CFCE"/>
          </a:solidFill>
          <a:ln/>
        </p:spPr>
      </p:sp>
      <p:sp>
        <p:nvSpPr>
          <p:cNvPr id="116" name="Text 111"/>
          <p:cNvSpPr/>
          <p:nvPr/>
        </p:nvSpPr>
        <p:spPr>
          <a:xfrm>
            <a:off x="32324040" y="22018752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E5</a:t>
            </a:r>
            <a:endParaRPr lang="en-US" sz="1800" dirty="0"/>
          </a:p>
        </p:txBody>
      </p:sp>
      <p:sp>
        <p:nvSpPr>
          <p:cNvPr id="117" name="Text 112"/>
          <p:cNvSpPr/>
          <p:nvPr/>
        </p:nvSpPr>
        <p:spPr>
          <a:xfrm>
            <a:off x="33467040" y="2197303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Multi-model intervention — harness released, run pending</a:t>
            </a:r>
            <a:endParaRPr lang="en-US" sz="1700" dirty="0"/>
          </a:p>
        </p:txBody>
      </p:sp>
      <p:sp>
        <p:nvSpPr>
          <p:cNvPr id="118" name="Shape 113"/>
          <p:cNvSpPr/>
          <p:nvPr/>
        </p:nvSpPr>
        <p:spPr>
          <a:xfrm>
            <a:off x="32324040" y="22860000"/>
            <a:ext cx="914400" cy="658368"/>
          </a:xfrm>
          <a:prstGeom prst="roundRect">
            <a:avLst>
              <a:gd name="adj" fmla="val 13889"/>
            </a:avLst>
          </a:prstGeom>
          <a:solidFill>
            <a:srgbClr val="C9CFCE"/>
          </a:solidFill>
          <a:ln/>
        </p:spPr>
      </p:sp>
      <p:sp>
        <p:nvSpPr>
          <p:cNvPr id="119" name="Text 114"/>
          <p:cNvSpPr/>
          <p:nvPr/>
        </p:nvSpPr>
        <p:spPr>
          <a:xfrm>
            <a:off x="32324040" y="2286000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E6</a:t>
            </a:r>
            <a:endParaRPr lang="en-US" sz="1800" dirty="0"/>
          </a:p>
        </p:txBody>
      </p:sp>
      <p:sp>
        <p:nvSpPr>
          <p:cNvPr id="120" name="Text 115"/>
          <p:cNvSpPr/>
          <p:nvPr/>
        </p:nvSpPr>
        <p:spPr>
          <a:xfrm>
            <a:off x="33467040" y="2281428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/ human study — not completed</a:t>
            </a:r>
            <a:endParaRPr lang="en-US" sz="1700" dirty="0"/>
          </a:p>
        </p:txBody>
      </p:sp>
      <p:sp>
        <p:nvSpPr>
          <p:cNvPr id="121" name="Shape 116"/>
          <p:cNvSpPr/>
          <p:nvPr/>
        </p:nvSpPr>
        <p:spPr>
          <a:xfrm>
            <a:off x="32324040" y="23884128"/>
            <a:ext cx="9555480" cy="2926080"/>
          </a:xfrm>
          <a:prstGeom prst="roundRect">
            <a:avLst>
              <a:gd name="adj" fmla="val 5000"/>
            </a:avLst>
          </a:prstGeom>
          <a:solidFill>
            <a:srgbClr val="2C3E44"/>
          </a:solidFill>
          <a:ln/>
        </p:spPr>
      </p:sp>
      <p:sp>
        <p:nvSpPr>
          <p:cNvPr id="122" name="Text 117"/>
          <p:cNvSpPr/>
          <p:nvPr/>
        </p:nvSpPr>
        <p:spPr>
          <a:xfrm>
            <a:off x="32644080" y="24112728"/>
            <a:ext cx="8915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Takeaway.  </a:t>
            </a:r>
            <a:pPr indent="0" marL="0">
              <a:buNone/>
            </a:pPr>
            <a:r>
              <a:rPr lang="en-US" sz="2000" dirty="0">
                <a:solidFill>
                  <a:srgbClr val="E4E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falsifiable problem definition, a modular evaluation decomposition and a reproducible scaffold for measuring where sensing, state update, policy and generation fail.  </a:t>
            </a:r>
            <a:pPr indent="0" marL="0">
              <a:buNone/>
            </a:pPr>
            <a:r>
              <a:rPr lang="en-US" sz="2000" b="1" dirty="0">
                <a:solidFill>
                  <a:srgbClr val="84B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github.com/leemgs/sage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2026-07-18T00:24:03Z</dcterms:created>
  <dcterms:modified xsi:type="dcterms:W3CDTF">2026-07-18T00:24:03Z</dcterms:modified>
</cp:coreProperties>
</file>